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6" r:id="rId12"/>
    <p:sldId id="264" r:id="rId13"/>
    <p:sldId id="269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01:34:41.23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01:34:41.7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01:34:43.33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1 763,'40'-111,"4"3,6 1,4 2,72-105,-115 192,1 1,1 1,0-1,1 2,16-14,-29 28,0 0,-1 0,1 0,0 1,0-1,0 0,0 1,0-1,0 1,0-1,1 1,-1 0,0-1,0 1,0 0,0 0,0-1,1 1,-1 0,0 0,0 1,0-1,0 0,1 0,-1 0,0 1,0-1,0 1,0-1,0 1,0-1,0 1,0 0,0-1,0 1,0 0,0 0,1 1,1 3,1 0,-1 1,0-1,-1 1,1 0,2 9,9 34,-1 2,5 53,5 109,-20-175,23 701,-26-730,0 0,1 0,-1 0,5 15,-5-22,0-1,1 0,-1 0,1 0,-1 1,1-1,0 0,-1 0,1 0,0 0,0 0,-1 0,1-1,0 1,0 0,0 0,0-1,2 2,-2-2,0 0,1 0,-1 1,0-1,1 0,-1-1,0 1,1 0,-1 0,0-1,1 1,-1 0,0-1,0 1,1-1,-1 0,0 1,0-1,0 0,0 0,1-1,9-8,-1-1,0 0,-1 0,-1-1,1 0,-2-1,9-18,3-3,15-26,-3 5,68-94,-93 142,1 1,-1 0,1 0,0 0,0 1,1 0,0 0,0 1,0 0,9-3,-12 5,5-5,0 0,0-1,-1 1,0-2,0 1,-1-1,0-1,9-15,-9 16,2-7,-3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01:34:43.97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01:34:44.18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6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D98E-50C4-FF2A-3F39-52B55A6E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D7123-E3CC-F375-BB9A-30354B258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1C0D0-3ECA-C3B3-10C9-16BAB9D33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97AA9-5FA7-08DB-650C-BBEC46C1B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08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.png"/><Relationship Id="rId9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noFill/>
          </a:ln>
        </p:spPr>
      </p:sp>
      <p:sp>
        <p:nvSpPr>
          <p:cNvPr id="3" name="Shape 1"/>
          <p:cNvSpPr/>
          <p:nvPr/>
        </p:nvSpPr>
        <p:spPr>
          <a:xfrm>
            <a:off x="-137160" y="0"/>
            <a:ext cx="4572000" cy="5143500"/>
          </a:xfrm>
          <a:prstGeom prst="rect">
            <a:avLst/>
          </a:prstGeom>
          <a:solidFill>
            <a:srgbClr val="0D1530">
              <a:alpha val="60000"/>
            </a:srgbClr>
          </a:solidFill>
          <a:ln w="1270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261480" y="-731520"/>
            <a:ext cx="3657600" cy="3657600"/>
          </a:xfrm>
          <a:prstGeom prst="ellipse">
            <a:avLst/>
          </a:prstGeom>
          <a:solidFill>
            <a:srgbClr val="1C2B5E">
              <a:alpha val="45000"/>
            </a:srgbClr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D4A8A">
              <a:alpha val="30000"/>
            </a:srgbClr>
          </a:solidFill>
          <a:ln w="12700">
            <a:noFill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Shape 5"/>
          <p:cNvSpPr/>
          <p:nvPr/>
        </p:nvSpPr>
        <p:spPr>
          <a:xfrm>
            <a:off x="5336529" y="-731520"/>
            <a:ext cx="5029200" cy="5029200"/>
          </a:xfrm>
          <a:prstGeom prst="ellipse">
            <a:avLst/>
          </a:prstGeom>
          <a:solidFill>
            <a:srgbClr val="7C83FD">
              <a:alpha val="12000"/>
            </a:srgbClr>
          </a:solidFill>
          <a:ln w="12700">
            <a:noFill/>
          </a:ln>
        </p:spPr>
      </p:sp>
      <p:sp>
        <p:nvSpPr>
          <p:cNvPr id="8" name="Shape 6"/>
          <p:cNvSpPr/>
          <p:nvPr/>
        </p:nvSpPr>
        <p:spPr>
          <a:xfrm>
            <a:off x="5806440" y="45720"/>
            <a:ext cx="3931920" cy="3931920"/>
          </a:xfrm>
          <a:prstGeom prst="ellipse">
            <a:avLst/>
          </a:prstGeom>
          <a:solidFill>
            <a:srgbClr val="48CAE4">
              <a:alpha val="8000"/>
            </a:srgbClr>
          </a:solidFill>
          <a:ln w="1270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7246620" y="777240"/>
            <a:ext cx="1645920" cy="1645920"/>
          </a:xfrm>
          <a:prstGeom prst="ellipse">
            <a:avLst/>
          </a:prstGeom>
          <a:solidFill>
            <a:srgbClr val="1C2B5E"/>
          </a:solidFill>
          <a:ln w="25400">
            <a:noFill/>
          </a:ln>
        </p:spPr>
      </p:sp>
      <p:sp>
        <p:nvSpPr>
          <p:cNvPr id="10" name="Text 8"/>
          <p:cNvSpPr/>
          <p:nvPr/>
        </p:nvSpPr>
        <p:spPr>
          <a:xfrm>
            <a:off x="7223760" y="6858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Reviewer and Quality Assistant.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3474720" cy="45720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13" name="Text 11"/>
          <p:cNvSpPr/>
          <p:nvPr/>
        </p:nvSpPr>
        <p:spPr>
          <a:xfrm>
            <a:off x="50292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8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Python Documentation &amp; Code Quality 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1228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5CF36-6CCA-E96B-5852-4739216A14FD}"/>
              </a:ext>
            </a:extLst>
          </p:cNvPr>
          <p:cNvSpPr txBox="1"/>
          <p:nvPr/>
        </p:nvSpPr>
        <p:spPr>
          <a:xfrm>
            <a:off x="2527200" y="3108960"/>
            <a:ext cx="40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Presented by Aleena Mary V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3" name="Shape 1"/>
          <p:cNvSpPr/>
          <p:nvPr/>
        </p:nvSpPr>
        <p:spPr>
          <a:xfrm>
            <a:off x="0" y="9144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6" name="Text 4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Abstract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212080" cy="347472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8" name="Text 6"/>
          <p:cNvSpPr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AI Code Reviewer and Quality Assistant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B8BDE8"/>
                </a:solidFill>
              </a:rPr>
              <a:t>AI Code Reviewer  is a unified Streamlit web application that automates the analysis, validation, and documentation of Python codebases. It leverages Python's Abstract Syntax Tree (AST) to statically analyze source files without executing them.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The platform combines four powerful modules: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BDE8"/>
                </a:solidFill>
              </a:rPr>
              <a:t>Scanning for undocumented functions across a codebase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BDE8"/>
                </a:solidFill>
              </a:rPr>
              <a:t>Validating PEP-compliance and docstring coverage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BDE8"/>
                </a:solidFill>
              </a:rPr>
              <a:t>Auto-generating &amp; injecting docstrings in multiple styles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BDE8"/>
                </a:solidFill>
              </a:rPr>
              <a:t>Visualizing coverage metrics on an interactive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097280"/>
            <a:ext cx="2926080" cy="749808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143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83FD"/>
                </a:solidFill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DB3"/>
                </a:solidFill>
              </a:rPr>
              <a:t>Static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965960"/>
            <a:ext cx="2926080" cy="749808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83FD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DB3"/>
                </a:solidFill>
              </a:rPr>
              <a:t>Docstring Styles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834640"/>
            <a:ext cx="2926080" cy="749808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2880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83FD"/>
                </a:solidFill>
              </a:rPr>
              <a:t>∞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DB3"/>
                </a:solidFill>
              </a:rPr>
              <a:t>Files Supported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3703320"/>
            <a:ext cx="2926080" cy="749808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83FD"/>
                </a:solidFill>
              </a:rPr>
              <a:t>Live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DB3"/>
                </a:solidFill>
              </a:rPr>
              <a:t>Disk Write-Back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1D3A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6" name="Text 4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Problem Statement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9" name="Text 7"/>
          <p:cNvSpPr/>
          <p:nvPr/>
        </p:nvSpPr>
        <p:spPr>
          <a:xfrm>
            <a:off x="484632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📉 Missing Documentation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Most Python projects lack consistent docstrings. Developers skip documentation under time pressure, making code hard to understand and maintain.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3" name="Text 11"/>
          <p:cNvSpPr/>
          <p:nvPr/>
        </p:nvSpPr>
        <p:spPr>
          <a:xfrm>
            <a:off x="3410712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🔍 Manual Auditing is Tedious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Scanning hundreds of functions across multiple files for missing docstrings manually is impractical and error-prone at scale.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7" name="Text 15"/>
          <p:cNvSpPr/>
          <p:nvPr/>
        </p:nvSpPr>
        <p:spPr>
          <a:xfrm>
            <a:off x="6336792" y="1161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⚠️ Inconsistent Style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527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Teams use mixed docstring formats — Google, NumPy, reST — with no enforcement, creating confusion when onboarding new members.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1" name="Text 19"/>
          <p:cNvSpPr/>
          <p:nvPr/>
        </p:nvSpPr>
        <p:spPr>
          <a:xfrm>
            <a:off x="484632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💸 High Technical Debt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Undocumented code accumulates as technical debt. Fixing it retroactively is costly, slow, and often deprioritised in agile workflows.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5" name="Text 23"/>
          <p:cNvSpPr/>
          <p:nvPr/>
        </p:nvSpPr>
        <p:spPr>
          <a:xfrm>
            <a:off x="3410712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🔧 No Unified Tooling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Existing tools handle only one aspect — linting OR generation OR visualization. No single platform addresses the full documentation lifecycle.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2834640"/>
            <a:ext cx="2743200" cy="160020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9" name="Text 27"/>
          <p:cNvSpPr/>
          <p:nvPr/>
        </p:nvSpPr>
        <p:spPr>
          <a:xfrm>
            <a:off x="6336792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0FF"/>
                </a:solidFill>
              </a:rPr>
              <a:t>🚫 No Live Feedback Loop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Developers receive no real-time feedback on coverage during development, making it difficult to maintain quality standards continuously.</a:t>
            </a:r>
            <a:endParaRPr lang="en-US" sz="85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62D78881-3331-4D43-9900-1CB882A4789D}"/>
              </a:ext>
            </a:extLst>
          </p:cNvPr>
          <p:cNvSpPr/>
          <p:nvPr/>
        </p:nvSpPr>
        <p:spPr>
          <a:xfrm>
            <a:off x="0" y="-12037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DA283D5-10F9-3767-C283-06E8020C4A86}"/>
                  </a:ext>
                </a:extLst>
              </p14:cNvPr>
              <p14:cNvContentPartPr/>
              <p14:nvPr/>
            </p14:nvContentPartPr>
            <p14:xfrm>
              <a:off x="1779425" y="137855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DA283D5-10F9-3767-C283-06E8020C4A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5785" y="12709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1F88388-3F00-7DE5-2271-4C6765D333E3}"/>
                  </a:ext>
                </a:extLst>
              </p14:cNvPr>
              <p14:cNvContentPartPr/>
              <p14:nvPr/>
            </p14:nvContentPartPr>
            <p14:xfrm>
              <a:off x="1779425" y="137855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1F88388-3F00-7DE5-2271-4C6765D33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5785" y="12709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37DD30F-74CE-A9CE-E3E2-21A04A8E9953}"/>
                  </a:ext>
                </a:extLst>
              </p14:cNvPr>
              <p14:cNvContentPartPr/>
              <p14:nvPr/>
            </p14:nvContentPartPr>
            <p14:xfrm>
              <a:off x="1364345" y="1322031"/>
              <a:ext cx="392760" cy="480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37DD30F-74CE-A9CE-E3E2-21A04A8E99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0705" y="1214031"/>
                <a:ext cx="500400" cy="6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ADC6B08-7C45-3495-55F7-10CFE2C2AF03}"/>
                  </a:ext>
                </a:extLst>
              </p14:cNvPr>
              <p14:cNvContentPartPr/>
              <p14:nvPr/>
            </p14:nvContentPartPr>
            <p14:xfrm>
              <a:off x="1758185" y="1575471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ADC6B08-7C45-3495-55F7-10CFE2C2AF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4545" y="146747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1CCA90A-6F14-1AD3-63A4-D0A5E4D16A55}"/>
                  </a:ext>
                </a:extLst>
              </p14:cNvPr>
              <p14:cNvContentPartPr/>
              <p14:nvPr/>
            </p14:nvContentPartPr>
            <p14:xfrm>
              <a:off x="1758185" y="1575471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1CCA90A-6F14-1AD3-63A4-D0A5E4D16A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4545" y="146747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5D3A347D-4122-3448-EE5B-82429B74DAE4}"/>
              </a:ext>
            </a:extLst>
          </p:cNvPr>
          <p:cNvSpPr txBox="1"/>
          <p:nvPr/>
        </p:nvSpPr>
        <p:spPr>
          <a:xfrm>
            <a:off x="160723" y="236065"/>
            <a:ext cx="6298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91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6" name="Text 4"/>
          <p:cNvSpPr/>
          <p:nvPr/>
        </p:nvSpPr>
        <p:spPr>
          <a:xfrm>
            <a:off x="502920" y="21758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1993392" cy="26060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2" name="Text 10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3060" y="143607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83FD"/>
                </a:solidFill>
              </a:rPr>
              <a:t>AST-Based Engine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" y="1827158"/>
            <a:ext cx="1792224" cy="1280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BDE8"/>
                </a:solidFill>
              </a:rPr>
              <a:t>Uses Python's built-in AST to parse code without execution. Extracts function names, args, types, return hints, and existing docstrings with 100% accuracy.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194560"/>
            <a:ext cx="1993392" cy="26060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7" name="Text 15"/>
          <p:cNvSpPr/>
          <p:nvPr/>
        </p:nvSpPr>
        <p:spPr>
          <a:xfrm>
            <a:off x="3108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62272" y="1474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8CAE4"/>
                </a:solidFill>
              </a:rPr>
              <a:t>Smart Generation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2856" y="1878624"/>
            <a:ext cx="1792224" cy="1280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BDE8"/>
                </a:solidFill>
              </a:rPr>
              <a:t>Auto-generates contextual docstrings in Google, NumPy, and reST styles using a verb-map heuristic engine and type annotation inference.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2194560"/>
            <a:ext cx="1993392" cy="26060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2" name="Text 20"/>
          <p:cNvSpPr/>
          <p:nvPr/>
        </p:nvSpPr>
        <p:spPr>
          <a:xfrm>
            <a:off x="5257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6782" y="278727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E5A0"/>
                </a:solidFill>
              </a:rPr>
              <a:t>Safe Injection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89543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BDE8"/>
                </a:solidFill>
              </a:rPr>
              <a:t>Injects docstrings directly into live source files using precise line-number tracking. Sequential multi-function edits work without line-shift corruption.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2194560"/>
            <a:ext cx="1993392" cy="26060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7" name="Text 25"/>
          <p:cNvSpPr/>
          <p:nvPr/>
        </p:nvSpPr>
        <p:spPr>
          <a:xfrm>
            <a:off x="74066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61104" y="271506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Live Dashboards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26281" y="3085046"/>
            <a:ext cx="1792224" cy="1280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8BDE8"/>
                </a:solidFill>
              </a:rPr>
              <a:t>Real-time coverage charts, complexity heatmaps, and test-suite simulation across all loaded files with Plotly and Matplotlib visualisations.</a:t>
            </a:r>
            <a:endParaRPr lang="en-US" sz="8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B43782D6-D432-4837-6349-3D64D3B85E14}"/>
              </a:ext>
            </a:extLst>
          </p:cNvPr>
          <p:cNvSpPr/>
          <p:nvPr/>
        </p:nvSpPr>
        <p:spPr>
          <a:xfrm>
            <a:off x="0" y="9378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F95A12-858F-E492-D965-A911E6562972}"/>
              </a:ext>
            </a:extLst>
          </p:cNvPr>
          <p:cNvSpPr txBox="1"/>
          <p:nvPr/>
        </p:nvSpPr>
        <p:spPr>
          <a:xfrm>
            <a:off x="196948" y="191088"/>
            <a:ext cx="592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6" name="Text 4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System Flowchart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1508760" cy="141732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97280"/>
            <a:ext cx="1508760" cy="73152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9" name="Text 7"/>
          <p:cNvSpPr/>
          <p:nvPr/>
        </p:nvSpPr>
        <p:spPr>
          <a:xfrm>
            <a:off x="228600" y="11887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783080"/>
            <a:ext cx="365760" cy="36576"/>
          </a:xfrm>
          <a:prstGeom prst="rect">
            <a:avLst/>
          </a:prstGeom>
          <a:solidFill>
            <a:srgbClr val="6B7DB3"/>
          </a:solidFill>
          <a:ln w="12700">
            <a:noFill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3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1097280"/>
            <a:ext cx="1508760" cy="141732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74520" y="1097280"/>
            <a:ext cx="1508760" cy="73152"/>
          </a:xfrm>
          <a:prstGeom prst="rect">
            <a:avLst/>
          </a:prstGeom>
          <a:solidFill>
            <a:srgbClr val="48CAE4"/>
          </a:solidFill>
          <a:ln w="12700">
            <a:noFill/>
          </a:ln>
        </p:spPr>
      </p:sp>
      <p:sp>
        <p:nvSpPr>
          <p:cNvPr id="14" name="Text 12"/>
          <p:cNvSpPr/>
          <p:nvPr/>
        </p:nvSpPr>
        <p:spPr>
          <a:xfrm>
            <a:off x="1920240" y="11887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⚙️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Parse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783080"/>
            <a:ext cx="365760" cy="36576"/>
          </a:xfrm>
          <a:prstGeom prst="rect">
            <a:avLst/>
          </a:prstGeom>
          <a:solidFill>
            <a:srgbClr val="6B7DB3"/>
          </a:solidFill>
          <a:ln w="12700">
            <a:noFill/>
          </a:ln>
        </p:spPr>
      </p:sp>
      <p:sp>
        <p:nvSpPr>
          <p:cNvPr id="16" name="Text 14"/>
          <p:cNvSpPr/>
          <p:nvPr/>
        </p:nvSpPr>
        <p:spPr>
          <a:xfrm>
            <a:off x="3685032" y="16642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3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097280"/>
            <a:ext cx="1508760" cy="141732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1097280"/>
            <a:ext cx="1508760" cy="73152"/>
          </a:xfrm>
          <a:prstGeom prst="rect">
            <a:avLst/>
          </a:prstGeom>
          <a:solidFill>
            <a:srgbClr val="51E5A0"/>
          </a:solidFill>
          <a:ln w="12700">
            <a:noFill/>
          </a:ln>
        </p:spPr>
      </p:sp>
      <p:sp>
        <p:nvSpPr>
          <p:cNvPr id="19" name="Text 17"/>
          <p:cNvSpPr/>
          <p:nvPr/>
        </p:nvSpPr>
        <p:spPr>
          <a:xfrm>
            <a:off x="3611880" y="11887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Scan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Functions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1783080"/>
            <a:ext cx="365760" cy="36576"/>
          </a:xfrm>
          <a:prstGeom prst="rect">
            <a:avLst/>
          </a:prstGeom>
          <a:solidFill>
            <a:srgbClr val="6B7DB3"/>
          </a:solidFill>
          <a:ln w="12700">
            <a:noFill/>
          </a:ln>
        </p:spPr>
      </p:sp>
      <p:sp>
        <p:nvSpPr>
          <p:cNvPr id="21" name="Text 19"/>
          <p:cNvSpPr/>
          <p:nvPr/>
        </p:nvSpPr>
        <p:spPr>
          <a:xfrm>
            <a:off x="5376672" y="16642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3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097280"/>
            <a:ext cx="1508760" cy="141732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7800" y="1097280"/>
            <a:ext cx="1508760" cy="73152"/>
          </a:xfrm>
          <a:prstGeom prst="rect">
            <a:avLst/>
          </a:prstGeom>
          <a:solidFill>
            <a:srgbClr val="FFD166"/>
          </a:solidFill>
          <a:ln w="12700">
            <a:noFill/>
          </a:ln>
        </p:spPr>
      </p:sp>
      <p:sp>
        <p:nvSpPr>
          <p:cNvPr id="24" name="Text 22"/>
          <p:cNvSpPr/>
          <p:nvPr/>
        </p:nvSpPr>
        <p:spPr>
          <a:xfrm>
            <a:off x="5303520" y="11887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Docs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783080"/>
            <a:ext cx="365760" cy="36576"/>
          </a:xfrm>
          <a:prstGeom prst="rect">
            <a:avLst/>
          </a:prstGeom>
          <a:solidFill>
            <a:srgbClr val="6B7DB3"/>
          </a:solidFill>
          <a:ln w="12700">
            <a:noFill/>
          </a:ln>
        </p:spPr>
      </p:sp>
      <p:sp>
        <p:nvSpPr>
          <p:cNvPr id="26" name="Text 24"/>
          <p:cNvSpPr/>
          <p:nvPr/>
        </p:nvSpPr>
        <p:spPr>
          <a:xfrm>
            <a:off x="7068312" y="16642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3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1097280"/>
            <a:ext cx="1508760" cy="141732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097280"/>
            <a:ext cx="1508760" cy="73152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</p:sp>
      <p:sp>
        <p:nvSpPr>
          <p:cNvPr id="29" name="Text 27"/>
          <p:cNvSpPr/>
          <p:nvPr/>
        </p:nvSpPr>
        <p:spPr>
          <a:xfrm>
            <a:off x="6995160" y="11887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✍️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Generate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Docstring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2834640"/>
            <a:ext cx="1828800" cy="105156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0" y="2834640"/>
            <a:ext cx="1828800" cy="64008"/>
          </a:xfrm>
          <a:prstGeom prst="rect">
            <a:avLst/>
          </a:prstGeom>
          <a:solidFill>
            <a:srgbClr val="51E5A0"/>
          </a:solidFill>
          <a:ln w="12700">
            <a:noFill/>
          </a:ln>
        </p:spPr>
      </p:sp>
      <p:sp>
        <p:nvSpPr>
          <p:cNvPr id="32" name="Text 30"/>
          <p:cNvSpPr/>
          <p:nvPr/>
        </p:nvSpPr>
        <p:spPr>
          <a:xfrm>
            <a:off x="228600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💾 Apply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In Memory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834640"/>
            <a:ext cx="1828800" cy="105156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834640"/>
            <a:ext cx="1828800" cy="64008"/>
          </a:xfrm>
          <a:prstGeom prst="rect">
            <a:avLst/>
          </a:prstGeom>
          <a:solidFill>
            <a:srgbClr val="FFD166"/>
          </a:solidFill>
          <a:ln w="12700">
            <a:noFill/>
          </a:ln>
        </p:spPr>
      </p:sp>
      <p:sp>
        <p:nvSpPr>
          <p:cNvPr id="35" name="Text 33"/>
          <p:cNvSpPr/>
          <p:nvPr/>
        </p:nvSpPr>
        <p:spPr>
          <a:xfrm>
            <a:off x="457200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📊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2514600"/>
            <a:ext cx="0" cy="320040"/>
          </a:xfrm>
          <a:prstGeom prst="line">
            <a:avLst/>
          </a:prstGeom>
          <a:noFill/>
          <a:ln w="12700">
            <a:noFill/>
          </a:ln>
        </p:spPr>
      </p:sp>
      <p:sp>
        <p:nvSpPr>
          <p:cNvPr id="37" name="Shape 35"/>
          <p:cNvSpPr/>
          <p:nvPr/>
        </p:nvSpPr>
        <p:spPr>
          <a:xfrm>
            <a:off x="5486400" y="2514600"/>
            <a:ext cx="0" cy="320040"/>
          </a:xfrm>
          <a:prstGeom prst="line">
            <a:avLst/>
          </a:prstGeom>
          <a:noFill/>
          <a:ln w="12700">
            <a:noFill/>
          </a:ln>
        </p:spPr>
      </p:sp>
      <p:sp>
        <p:nvSpPr>
          <p:cNvPr id="38" name="Shape 36"/>
          <p:cNvSpPr/>
          <p:nvPr/>
        </p:nvSpPr>
        <p:spPr>
          <a:xfrm>
            <a:off x="3383280" y="4069080"/>
            <a:ext cx="2377440" cy="77724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83280" y="4069080"/>
            <a:ext cx="2377440" cy="64008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40" name="Text 38"/>
          <p:cNvSpPr/>
          <p:nvPr/>
        </p:nvSpPr>
        <p:spPr>
          <a:xfrm>
            <a:off x="3383280" y="413308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0FF"/>
                </a:solidFill>
              </a:rPr>
              <a:t>✅ Coverage Report + Export</a:t>
            </a:r>
            <a:endParaRPr lang="en-US" sz="1100" dirty="0"/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3CBE9A7A-1A7E-8040-18D7-884F03EC595C}"/>
              </a:ext>
            </a:extLst>
          </p:cNvPr>
          <p:cNvSpPr/>
          <p:nvPr/>
        </p:nvSpPr>
        <p:spPr>
          <a:xfrm>
            <a:off x="0" y="4572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C252B0-787D-D5A4-1B2E-EFBB579BC334}"/>
              </a:ext>
            </a:extLst>
          </p:cNvPr>
          <p:cNvSpPr txBox="1"/>
          <p:nvPr/>
        </p:nvSpPr>
        <p:spPr>
          <a:xfrm>
            <a:off x="192727" y="297180"/>
            <a:ext cx="681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41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Text 5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🏠 Home Scanner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9" name="Shape 7"/>
          <p:cNvSpPr/>
          <p:nvPr/>
        </p:nvSpPr>
        <p:spPr>
          <a:xfrm>
            <a:off x="365760" y="1161288"/>
            <a:ext cx="475488" cy="475488"/>
          </a:xfrm>
          <a:prstGeom prst="ellipse">
            <a:avLst/>
          </a:prstGeom>
          <a:solidFill>
            <a:srgbClr val="48CAE4">
              <a:alpha val="65000"/>
            </a:srgbClr>
          </a:solidFill>
          <a:ln w="12700">
            <a:noFill/>
          </a:ln>
        </p:spPr>
      </p:sp>
      <p:sp>
        <p:nvSpPr>
          <p:cNvPr id="10" name="Text 8"/>
          <p:cNvSpPr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1161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Dual File 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Upload multiple .py files via browser or paste a folder/file path. Recursively loads all .py files from nested directories.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27832" y="1051560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4" name="Shape 12"/>
          <p:cNvSpPr/>
          <p:nvPr/>
        </p:nvSpPr>
        <p:spPr>
          <a:xfrm>
            <a:off x="3319272" y="1161288"/>
            <a:ext cx="475488" cy="475488"/>
          </a:xfrm>
          <a:prstGeom prst="ellipse">
            <a:avLst/>
          </a:prstGeom>
          <a:solidFill>
            <a:srgbClr val="7C83FD">
              <a:alpha val="65000"/>
            </a:srgbClr>
          </a:solidFill>
          <a:ln w="12700">
            <a:noFill/>
          </a:ln>
        </p:spPr>
      </p:sp>
      <p:sp>
        <p:nvSpPr>
          <p:cNvPr id="15" name="Text 13"/>
          <p:cNvSpPr/>
          <p:nvPr/>
        </p:nvSpPr>
        <p:spPr>
          <a:xfrm>
            <a:off x="3319272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1161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3FD"/>
                </a:solidFill>
              </a:rPr>
              <a:t>AST Function Scan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Parses every uploaded file with Python's AST engine. Detects all functions, classes, async defs and checks docstring presence.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81344" y="1051560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9" name="Shape 17"/>
          <p:cNvSpPr/>
          <p:nvPr/>
        </p:nvSpPr>
        <p:spPr>
          <a:xfrm>
            <a:off x="3363585" y="2185416"/>
            <a:ext cx="475488" cy="475488"/>
          </a:xfrm>
          <a:prstGeom prst="ellipse">
            <a:avLst/>
          </a:prstGeom>
          <a:solidFill>
            <a:srgbClr val="51E5A0">
              <a:alpha val="65000"/>
            </a:srgbClr>
          </a:solidFill>
          <a:ln w="12700">
            <a:noFill/>
          </a:ln>
        </p:spPr>
      </p:sp>
      <p:sp>
        <p:nvSpPr>
          <p:cNvPr id="20" name="Text 18"/>
          <p:cNvSpPr/>
          <p:nvPr/>
        </p:nvSpPr>
        <p:spPr>
          <a:xfrm>
            <a:off x="3363585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22072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E5A0"/>
                </a:solidFill>
              </a:rPr>
              <a:t>Coverage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8980" y="2655277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Displays function/class coverage %, complexity bar charts, drill-down filters (All / Documented / Missing), and a complexity heatmap.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4" name="Shape 22"/>
          <p:cNvSpPr/>
          <p:nvPr/>
        </p:nvSpPr>
        <p:spPr>
          <a:xfrm>
            <a:off x="365760" y="2075688"/>
            <a:ext cx="475488" cy="475488"/>
          </a:xfrm>
          <a:prstGeom prst="ellipse">
            <a:avLst/>
          </a:prstGeom>
          <a:solidFill>
            <a:srgbClr val="FFD166">
              <a:alpha val="65000"/>
            </a:srgbClr>
          </a:solidFill>
          <a:ln w="1270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36576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2416" y="2075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Complexity Metrics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0345" y="2666707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Cyclomatic complexity score per function. Colour-coded chart: red (&gt;5), amber (&gt;3), blue (≤3). Identifies the most complex function instantly.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2816352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9" name="Shape 27"/>
          <p:cNvSpPr/>
          <p:nvPr/>
        </p:nvSpPr>
        <p:spPr>
          <a:xfrm>
            <a:off x="365760" y="3127248"/>
            <a:ext cx="475488" cy="475488"/>
          </a:xfrm>
          <a:prstGeom prst="ellipse">
            <a:avLst/>
          </a:prstGeom>
          <a:solidFill>
            <a:srgbClr val="FF6B6B">
              <a:alpha val="65000"/>
            </a:srgbClr>
          </a:solidFill>
          <a:ln w="12700">
            <a:noFill/>
          </a:ln>
        </p:spPr>
      </p:sp>
      <p:sp>
        <p:nvSpPr>
          <p:cNvPr id="30" name="Text 28"/>
          <p:cNvSpPr/>
          <p:nvPr/>
        </p:nvSpPr>
        <p:spPr>
          <a:xfrm>
            <a:off x="365760" y="31527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9861" y="315274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Data Table + JSON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" y="366674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Export-ready DataFrame with Name, Kind, Lines, Complexity, Has Docstring. Also exports full coverage report as downloadable JSON.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2816352"/>
            <a:ext cx="2788920" cy="1572768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35" name="Text 33"/>
          <p:cNvSpPr/>
          <p:nvPr/>
        </p:nvSpPr>
        <p:spPr>
          <a:xfrm>
            <a:off x="3363585" y="30389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2207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27832" y="36027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DC99E283-AC9C-D4FE-1448-36E05C758123}"/>
              </a:ext>
            </a:extLst>
          </p:cNvPr>
          <p:cNvSpPr/>
          <p:nvPr/>
        </p:nvSpPr>
        <p:spPr>
          <a:xfrm>
            <a:off x="0" y="-18288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A273CC-769B-3DC1-E7B4-CBFC79343D84}"/>
              </a:ext>
            </a:extLst>
          </p:cNvPr>
          <p:cNvSpPr txBox="1"/>
          <p:nvPr/>
        </p:nvSpPr>
        <p:spPr>
          <a:xfrm>
            <a:off x="180066" y="289036"/>
            <a:ext cx="5528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A8D3BD-5974-52C9-0E6C-A71E93AAFDD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80C251A-87F1-83B9-843D-A553E3F2CE34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4B69EE4-1756-81EB-2705-708759AB6F7E}"/>
              </a:ext>
            </a:extLst>
          </p:cNvPr>
          <p:cNvSpPr/>
          <p:nvPr/>
        </p:nvSpPr>
        <p:spPr>
          <a:xfrm>
            <a:off x="0" y="325901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5576D-325C-5A77-3EE6-96BC091E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37" y="2059777"/>
            <a:ext cx="5345723" cy="2619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0C6A0-B304-B8E6-AC35-716F8893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495"/>
            <a:ext cx="3706837" cy="201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6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Text 5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9" name="Shape 7"/>
          <p:cNvSpPr/>
          <p:nvPr/>
        </p:nvSpPr>
        <p:spPr>
          <a:xfrm>
            <a:off x="274320" y="1078992"/>
            <a:ext cx="54864" cy="548640"/>
          </a:xfrm>
          <a:prstGeom prst="rect">
            <a:avLst/>
          </a:prstGeom>
          <a:solidFill>
            <a:srgbClr val="51E5A0"/>
          </a:solidFill>
          <a:ln w="12700">
            <a:noFill/>
          </a:ln>
        </p:spPr>
      </p:sp>
      <p:sp>
        <p:nvSpPr>
          <p:cNvPr id="10" name="Text 8"/>
          <p:cNvSpPr/>
          <p:nvPr/>
        </p:nvSpPr>
        <p:spPr>
          <a:xfrm>
            <a:off x="329184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1E5A0"/>
                </a:solidFill>
              </a:rPr>
              <a:t>🧪  PEP Validation Mode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1371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PEP 257 is used to ensure every function, class, and module has a properly formatted docstring so that code is consistently documented and easily understood by other developers.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3" name="Shape 11"/>
          <p:cNvSpPr/>
          <p:nvPr/>
        </p:nvSpPr>
        <p:spPr>
          <a:xfrm>
            <a:off x="274320" y="1719072"/>
            <a:ext cx="54864" cy="548640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14" name="Text 12"/>
          <p:cNvSpPr/>
          <p:nvPr/>
        </p:nvSpPr>
        <p:spPr>
          <a:xfrm>
            <a:off x="438912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83FD"/>
                </a:solidFill>
              </a:rPr>
              <a:t>✏️  Live Code Editor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011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DE8"/>
                </a:solidFill>
              </a:rPr>
              <a:t>Left-pane editable textarea pre-loaded with source. Any change is synced immediately back to the in-memory file store and re-analysed in real time.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7" name="Shape 15"/>
          <p:cNvSpPr/>
          <p:nvPr/>
        </p:nvSpPr>
        <p:spPr>
          <a:xfrm>
            <a:off x="274320" y="2359152"/>
            <a:ext cx="54864" cy="548640"/>
          </a:xfrm>
          <a:prstGeom prst="rect">
            <a:avLst/>
          </a:prstGeom>
          <a:solidFill>
            <a:srgbClr val="48CAE4"/>
          </a:solidFill>
          <a:ln w="12700">
            <a:noFill/>
          </a:ln>
        </p:spPr>
      </p:sp>
      <p:sp>
        <p:nvSpPr>
          <p:cNvPr id="18" name="Text 16"/>
          <p:cNvSpPr/>
          <p:nvPr/>
        </p:nvSpPr>
        <p:spPr>
          <a:xfrm>
            <a:off x="43891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CAE4"/>
                </a:solidFill>
              </a:rPr>
              <a:t>🚦  Live Fix Status Panel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26517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DE8"/>
                </a:solidFill>
              </a:rPr>
              <a:t>Right pane lists each function with red ❌ or green ✅ badges. One-click 'Fix' button injects a basic docstring via regex for any undocumented function.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1" name="Shape 19"/>
          <p:cNvSpPr/>
          <p:nvPr/>
        </p:nvSpPr>
        <p:spPr>
          <a:xfrm>
            <a:off x="274320" y="2999232"/>
            <a:ext cx="54864" cy="548640"/>
          </a:xfrm>
          <a:prstGeom prst="rect">
            <a:avLst/>
          </a:prstGeom>
          <a:solidFill>
            <a:srgbClr val="FFD166"/>
          </a:solidFill>
          <a:ln w="12700">
            <a:noFill/>
          </a:ln>
        </p:spPr>
      </p:sp>
      <p:sp>
        <p:nvSpPr>
          <p:cNvPr id="22" name="Text 20"/>
          <p:cNvSpPr/>
          <p:nvPr/>
        </p:nvSpPr>
        <p:spPr>
          <a:xfrm>
            <a:off x="438912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📈  Coverage Metrics Strip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3291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DE8"/>
                </a:solidFill>
              </a:rPr>
              <a:t>Three metric cards: Documented Functions, Missing Docstrings, Coverage %. Recalculates on every editor keystroke without requiring a full reload.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5" name="Shape 23"/>
          <p:cNvSpPr/>
          <p:nvPr/>
        </p:nvSpPr>
        <p:spPr>
          <a:xfrm>
            <a:off x="274320" y="3639312"/>
            <a:ext cx="54864" cy="548640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</p:sp>
      <p:sp>
        <p:nvSpPr>
          <p:cNvPr id="26" name="Text 24"/>
          <p:cNvSpPr/>
          <p:nvPr/>
        </p:nvSpPr>
        <p:spPr>
          <a:xfrm>
            <a:off x="438912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⚠️  Violation Pie Chart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" y="3931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DE8"/>
                </a:solidFill>
              </a:rPr>
              <a:t>Plots error distribution by rule type using Matplotlib on a dark background. Skips the chart entirely when all functions are compliant.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5486400" cy="54864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9" name="Shape 27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B8BDE8"/>
          </a:solidFill>
          <a:ln w="12700">
            <a:noFill/>
          </a:ln>
        </p:spPr>
      </p:sp>
      <p:sp>
        <p:nvSpPr>
          <p:cNvPr id="30" name="Text 28"/>
          <p:cNvSpPr/>
          <p:nvPr/>
        </p:nvSpPr>
        <p:spPr>
          <a:xfrm>
            <a:off x="438912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BDE8"/>
                </a:solidFill>
              </a:rPr>
              <a:t>💾  Download Fixed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" y="45720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DE8"/>
                </a:solidFill>
              </a:rPr>
              <a:t>One-click download of the edited, fixed .py file directly from the UI. Useful when no file path is provided and disk write-back isn't available.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35040" y="1078992"/>
            <a:ext cx="2788920" cy="3749040"/>
          </a:xfrm>
          <a:prstGeom prst="rect">
            <a:avLst/>
          </a:prstGeom>
          <a:solidFill>
            <a:srgbClr val="1A2646"/>
          </a:solidFill>
          <a:ln w="12700">
            <a:noFill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1E5A0"/>
                </a:solidFill>
              </a:rPr>
              <a:t>Key Outcomes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44768" y="1627632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35" name="Text 33"/>
          <p:cNvSpPr/>
          <p:nvPr/>
        </p:nvSpPr>
        <p:spPr>
          <a:xfrm>
            <a:off x="6419088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Zero-config PEP audit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2112264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37" name="Text 35"/>
          <p:cNvSpPr/>
          <p:nvPr/>
        </p:nvSpPr>
        <p:spPr>
          <a:xfrm>
            <a:off x="6419088" y="2093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Real-time editor feedback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44768" y="2596896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39" name="Text 37"/>
          <p:cNvSpPr/>
          <p:nvPr/>
        </p:nvSpPr>
        <p:spPr>
          <a:xfrm>
            <a:off x="6419088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Visual pie chart of violations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44768" y="3081528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41" name="Text 39"/>
          <p:cNvSpPr/>
          <p:nvPr/>
        </p:nvSpPr>
        <p:spPr>
          <a:xfrm>
            <a:off x="6419088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One-click docstring injection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44768" y="3566160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43" name="Text 41"/>
          <p:cNvSpPr/>
          <p:nvPr/>
        </p:nvSpPr>
        <p:spPr>
          <a:xfrm>
            <a:off x="6419088" y="35478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Download corrected file instantly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44768" y="4050792"/>
            <a:ext cx="201168" cy="201168"/>
          </a:xfrm>
          <a:prstGeom prst="ellipse">
            <a:avLst/>
          </a:prstGeom>
          <a:solidFill>
            <a:srgbClr val="51E5A0">
              <a:alpha val="60000"/>
            </a:srgbClr>
          </a:solidFill>
          <a:ln w="12700">
            <a:noFill/>
          </a:ln>
        </p:spPr>
      </p:sp>
      <p:sp>
        <p:nvSpPr>
          <p:cNvPr id="45" name="Text 43"/>
          <p:cNvSpPr/>
          <p:nvPr/>
        </p:nvSpPr>
        <p:spPr>
          <a:xfrm>
            <a:off x="6419088" y="4032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DE8"/>
                </a:solidFill>
              </a:rPr>
              <a:t>Supports multi-file tab switching</a:t>
            </a:r>
            <a:endParaRPr lang="en-US" sz="95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4207F964-E1F4-87FB-7705-AA0EFD39B4A3}"/>
              </a:ext>
            </a:extLst>
          </p:cNvPr>
          <p:cNvSpPr/>
          <p:nvPr/>
        </p:nvSpPr>
        <p:spPr>
          <a:xfrm>
            <a:off x="0" y="16881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4E6BB-891E-7B58-E4EC-AA403D8FEA01}"/>
              </a:ext>
            </a:extLst>
          </p:cNvPr>
          <p:cNvSpPr txBox="1"/>
          <p:nvPr/>
        </p:nvSpPr>
        <p:spPr>
          <a:xfrm>
            <a:off x="175845" y="315468"/>
            <a:ext cx="50714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IN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DBD22F-C7E3-D738-F44F-E71AFD7A560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FCB6B3C-8A1B-9735-1DB5-EECE2389704D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D17CE70-C753-D5B9-F566-FB2D24E9BC60}"/>
              </a:ext>
            </a:extLst>
          </p:cNvPr>
          <p:cNvSpPr/>
          <p:nvPr/>
        </p:nvSpPr>
        <p:spPr>
          <a:xfrm>
            <a:off x="0" y="26670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78810-A969-1265-4846-A447627A8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94" y="569976"/>
            <a:ext cx="4705642" cy="2787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29965E-DB1F-3B61-BE64-4FDDC5FA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0004"/>
            <a:ext cx="4453831" cy="240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9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Text 5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834640" cy="384048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9" name="Shape 7"/>
          <p:cNvSpPr/>
          <p:nvPr/>
        </p:nvSpPr>
        <p:spPr>
          <a:xfrm>
            <a:off x="274320" y="1051560"/>
            <a:ext cx="2834640" cy="64008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10" name="Text 8"/>
          <p:cNvSpPr/>
          <p:nvPr/>
        </p:nvSpPr>
        <p:spPr>
          <a:xfrm>
            <a:off x="384048" y="11521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3FD"/>
                </a:solidFill>
              </a:rPr>
              <a:t>File &amp; Function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146304" cy="146304"/>
          </a:xfrm>
          <a:prstGeom prst="ellipse">
            <a:avLst/>
          </a:prstGeom>
          <a:solidFill>
            <a:srgbClr val="7C83FD">
              <a:alpha val="50000"/>
            </a:srgbClr>
          </a:solidFill>
          <a:ln w="12700">
            <a:noFill/>
          </a:ln>
        </p:spPr>
      </p:sp>
      <p:sp>
        <p:nvSpPr>
          <p:cNvPr id="12" name="Text 10"/>
          <p:cNvSpPr/>
          <p:nvPr/>
        </p:nvSpPr>
        <p:spPr>
          <a:xfrm>
            <a:off x="612648" y="1591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Left panel lists all loaded files with ⚠ N missing badge or ✓ 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231136"/>
            <a:ext cx="146304" cy="146304"/>
          </a:xfrm>
          <a:prstGeom prst="ellipse">
            <a:avLst/>
          </a:prstGeom>
          <a:solidFill>
            <a:srgbClr val="7C83FD">
              <a:alpha val="50000"/>
            </a:srgbClr>
          </a:solidFill>
          <a:ln w="12700">
            <a:noFill/>
          </a:ln>
        </p:spPr>
      </p:sp>
      <p:sp>
        <p:nvSpPr>
          <p:cNvPr id="14" name="Text 12"/>
          <p:cNvSpPr/>
          <p:nvPr/>
        </p:nvSpPr>
        <p:spPr>
          <a:xfrm>
            <a:off x="612648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Click any file to expand its function 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2834640"/>
            <a:ext cx="146304" cy="146304"/>
          </a:xfrm>
          <a:prstGeom prst="ellipse">
            <a:avLst/>
          </a:prstGeom>
          <a:solidFill>
            <a:srgbClr val="7C83FD">
              <a:alpha val="50000"/>
            </a:srgbClr>
          </a:solidFill>
          <a:ln w="12700">
            <a:noFill/>
          </a:ln>
        </p:spPr>
      </p:sp>
      <p:sp>
        <p:nvSpPr>
          <p:cNvPr id="16" name="Text 14"/>
          <p:cNvSpPr/>
          <p:nvPr/>
        </p:nvSpPr>
        <p:spPr>
          <a:xfrm>
            <a:off x="612648" y="27980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Each function shown with 🟢 / 🔴 docstring status icons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" y="3438144"/>
            <a:ext cx="146304" cy="146304"/>
          </a:xfrm>
          <a:prstGeom prst="ellipse">
            <a:avLst/>
          </a:prstGeom>
          <a:solidFill>
            <a:srgbClr val="7C83FD">
              <a:alpha val="50000"/>
            </a:srgbClr>
          </a:solidFill>
          <a:ln w="12700">
            <a:noFill/>
          </a:ln>
        </p:spPr>
      </p:sp>
      <p:sp>
        <p:nvSpPr>
          <p:cNvPr id="18" name="Text 16"/>
          <p:cNvSpPr/>
          <p:nvPr/>
        </p:nvSpPr>
        <p:spPr>
          <a:xfrm>
            <a:off x="612648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Functions identified by name + line number to handle duplicates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4041648"/>
            <a:ext cx="146304" cy="146304"/>
          </a:xfrm>
          <a:prstGeom prst="ellipse">
            <a:avLst/>
          </a:prstGeom>
          <a:solidFill>
            <a:srgbClr val="7C83FD">
              <a:alpha val="50000"/>
            </a:srgbClr>
          </a:solidFill>
          <a:ln w="12700">
            <a:noFill/>
          </a:ln>
        </p:spPr>
      </p:sp>
      <p:sp>
        <p:nvSpPr>
          <p:cNvPr id="20" name="Text 18"/>
          <p:cNvSpPr/>
          <p:nvPr/>
        </p:nvSpPr>
        <p:spPr>
          <a:xfrm>
            <a:off x="612648" y="4005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Selectbox fallback for large files with many functions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1051560"/>
            <a:ext cx="2834640" cy="384048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2" name="Shape 20"/>
          <p:cNvSpPr/>
          <p:nvPr/>
        </p:nvSpPr>
        <p:spPr>
          <a:xfrm>
            <a:off x="3246120" y="1051560"/>
            <a:ext cx="2834640" cy="64008"/>
          </a:xfrm>
          <a:prstGeom prst="rect">
            <a:avLst/>
          </a:prstGeom>
          <a:solidFill>
            <a:srgbClr val="48CAE4"/>
          </a:solidFill>
          <a:ln w="12700">
            <a:noFill/>
          </a:ln>
        </p:spPr>
      </p:sp>
      <p:sp>
        <p:nvSpPr>
          <p:cNvPr id="23" name="Text 21"/>
          <p:cNvSpPr/>
          <p:nvPr/>
        </p:nvSpPr>
        <p:spPr>
          <a:xfrm>
            <a:off x="3355848" y="11521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Generation Engine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74136" y="1627632"/>
            <a:ext cx="146304" cy="146304"/>
          </a:xfrm>
          <a:prstGeom prst="ellipse">
            <a:avLst/>
          </a:prstGeom>
          <a:solidFill>
            <a:srgbClr val="48CAE4">
              <a:alpha val="50000"/>
            </a:srgbClr>
          </a:solidFill>
          <a:ln w="12700">
            <a:noFill/>
          </a:ln>
        </p:spPr>
      </p:sp>
      <p:sp>
        <p:nvSpPr>
          <p:cNvPr id="25" name="Text 23"/>
          <p:cNvSpPr/>
          <p:nvPr/>
        </p:nvSpPr>
        <p:spPr>
          <a:xfrm>
            <a:off x="3584448" y="1591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Reads function name, args, type hints, return annotation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74136" y="2231136"/>
            <a:ext cx="146304" cy="146304"/>
          </a:xfrm>
          <a:prstGeom prst="ellipse">
            <a:avLst/>
          </a:prstGeom>
          <a:solidFill>
            <a:srgbClr val="48CAE4">
              <a:alpha val="50000"/>
            </a:srgbClr>
          </a:solidFill>
          <a:ln w="12700">
            <a:noFill/>
          </a:ln>
        </p:spPr>
      </p:sp>
      <p:sp>
        <p:nvSpPr>
          <p:cNvPr id="27" name="Text 25"/>
          <p:cNvSpPr/>
          <p:nvPr/>
        </p:nvSpPr>
        <p:spPr>
          <a:xfrm>
            <a:off x="3584448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Verb-map heuristic maps prefix → action (get→Retrieves, calc→Calculates)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74136" y="2834640"/>
            <a:ext cx="146304" cy="146304"/>
          </a:xfrm>
          <a:prstGeom prst="ellipse">
            <a:avLst/>
          </a:prstGeom>
          <a:solidFill>
            <a:srgbClr val="48CAE4">
              <a:alpha val="50000"/>
            </a:srgbClr>
          </a:solidFill>
          <a:ln w="12700">
            <a:noFill/>
          </a:ln>
        </p:spPr>
      </p:sp>
      <p:sp>
        <p:nvSpPr>
          <p:cNvPr id="29" name="Text 27"/>
          <p:cNvSpPr/>
          <p:nvPr/>
        </p:nvSpPr>
        <p:spPr>
          <a:xfrm>
            <a:off x="3584448" y="27980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Generates Google, NumPy or reST style docstrings automatically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74136" y="3438144"/>
            <a:ext cx="146304" cy="146304"/>
          </a:xfrm>
          <a:prstGeom prst="ellipse">
            <a:avLst/>
          </a:prstGeom>
          <a:solidFill>
            <a:srgbClr val="48CAE4">
              <a:alpha val="50000"/>
            </a:srgbClr>
          </a:solidFill>
          <a:ln w="12700">
            <a:noFill/>
          </a:ln>
        </p:spPr>
      </p:sp>
      <p:sp>
        <p:nvSpPr>
          <p:cNvPr id="31" name="Text 29"/>
          <p:cNvSpPr/>
          <p:nvPr/>
        </p:nvSpPr>
        <p:spPr>
          <a:xfrm>
            <a:off x="3584448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Inferred description shown when no docstring exists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74136" y="4041648"/>
            <a:ext cx="146304" cy="146304"/>
          </a:xfrm>
          <a:prstGeom prst="ellipse">
            <a:avLst/>
          </a:prstGeom>
          <a:solidFill>
            <a:srgbClr val="48CAE4">
              <a:alpha val="50000"/>
            </a:srgbClr>
          </a:solidFill>
          <a:ln w="12700">
            <a:noFill/>
          </a:ln>
        </p:spPr>
      </p:sp>
      <p:sp>
        <p:nvSpPr>
          <p:cNvPr id="33" name="Text 31"/>
          <p:cNvSpPr/>
          <p:nvPr/>
        </p:nvSpPr>
        <p:spPr>
          <a:xfrm>
            <a:off x="3584448" y="4005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Editable text-area lets you refine before applying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051560"/>
            <a:ext cx="2834640" cy="3840480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35" name="Shape 33"/>
          <p:cNvSpPr/>
          <p:nvPr/>
        </p:nvSpPr>
        <p:spPr>
          <a:xfrm>
            <a:off x="6217920" y="1051560"/>
            <a:ext cx="2834640" cy="64008"/>
          </a:xfrm>
          <a:prstGeom prst="rect">
            <a:avLst/>
          </a:prstGeom>
          <a:solidFill>
            <a:srgbClr val="51E5A0"/>
          </a:solidFill>
          <a:ln w="12700">
            <a:noFill/>
          </a:ln>
        </p:spPr>
      </p:sp>
      <p:sp>
        <p:nvSpPr>
          <p:cNvPr id="36" name="Text 34"/>
          <p:cNvSpPr/>
          <p:nvPr/>
        </p:nvSpPr>
        <p:spPr>
          <a:xfrm>
            <a:off x="6327648" y="11521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E5A0"/>
                </a:solidFill>
              </a:rPr>
              <a:t>Safe Injection &amp; Save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45936" y="1627632"/>
            <a:ext cx="146304" cy="146304"/>
          </a:xfrm>
          <a:prstGeom prst="ellipse">
            <a:avLst/>
          </a:prstGeom>
          <a:solidFill>
            <a:srgbClr val="51E5A0">
              <a:alpha val="50000"/>
            </a:srgbClr>
          </a:solidFill>
          <a:ln w="12700">
            <a:noFill/>
          </a:ln>
        </p:spPr>
      </p:sp>
      <p:sp>
        <p:nvSpPr>
          <p:cNvPr id="38" name="Text 36"/>
          <p:cNvSpPr/>
          <p:nvPr/>
        </p:nvSpPr>
        <p:spPr>
          <a:xfrm>
            <a:off x="6556248" y="1591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Re-parses live in-memory source before every injection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45936" y="2231136"/>
            <a:ext cx="146304" cy="146304"/>
          </a:xfrm>
          <a:prstGeom prst="ellipse">
            <a:avLst/>
          </a:prstGeom>
          <a:solidFill>
            <a:srgbClr val="51E5A0">
              <a:alpha val="50000"/>
            </a:srgbClr>
          </a:solidFill>
          <a:ln w="12700">
            <a:noFill/>
          </a:ln>
        </p:spPr>
      </p:sp>
      <p:sp>
        <p:nvSpPr>
          <p:cNvPr id="40" name="Text 38"/>
          <p:cNvSpPr/>
          <p:nvPr/>
        </p:nvSpPr>
        <p:spPr>
          <a:xfrm>
            <a:off x="6556248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Single-line docs use """text""" — no line-shift drift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45936" y="2834640"/>
            <a:ext cx="146304" cy="146304"/>
          </a:xfrm>
          <a:prstGeom prst="ellipse">
            <a:avLst/>
          </a:prstGeom>
          <a:solidFill>
            <a:srgbClr val="51E5A0">
              <a:alpha val="50000"/>
            </a:srgbClr>
          </a:solidFill>
          <a:ln w="12700">
            <a:noFill/>
          </a:ln>
        </p:spPr>
      </p:sp>
      <p:sp>
        <p:nvSpPr>
          <p:cNvPr id="42" name="Text 40"/>
          <p:cNvSpPr/>
          <p:nvPr/>
        </p:nvSpPr>
        <p:spPr>
          <a:xfrm>
            <a:off x="6556248" y="27980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Multi-line docstrings replace old ones with slice assignment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45936" y="3438144"/>
            <a:ext cx="146304" cy="146304"/>
          </a:xfrm>
          <a:prstGeom prst="ellipse">
            <a:avLst/>
          </a:prstGeom>
          <a:solidFill>
            <a:srgbClr val="51E5A0">
              <a:alpha val="50000"/>
            </a:srgbClr>
          </a:solidFill>
          <a:ln w="12700">
            <a:noFill/>
          </a:ln>
        </p:spPr>
      </p:sp>
      <p:sp>
        <p:nvSpPr>
          <p:cNvPr id="44" name="Text 42"/>
          <p:cNvSpPr/>
          <p:nvPr/>
        </p:nvSpPr>
        <p:spPr>
          <a:xfrm>
            <a:off x="6556248" y="3401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Apply &amp; Save writes to memory + disk in one click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45936" y="4041648"/>
            <a:ext cx="146304" cy="146304"/>
          </a:xfrm>
          <a:prstGeom prst="ellipse">
            <a:avLst/>
          </a:prstGeom>
          <a:solidFill>
            <a:srgbClr val="51E5A0">
              <a:alpha val="50000"/>
            </a:srgbClr>
          </a:solidFill>
          <a:ln w="12700">
            <a:noFill/>
          </a:ln>
        </p:spPr>
      </p:sp>
      <p:sp>
        <p:nvSpPr>
          <p:cNvPr id="46" name="Text 44"/>
          <p:cNvSpPr/>
          <p:nvPr/>
        </p:nvSpPr>
        <p:spPr>
          <a:xfrm>
            <a:off x="6556248" y="4005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Source Viewer at bottom reflects all applied changes live</a:t>
            </a:r>
            <a:endParaRPr lang="en-US" sz="85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D255BCCE-5E05-3C5A-C680-B78CA83BFFE4}"/>
              </a:ext>
            </a:extLst>
          </p:cNvPr>
          <p:cNvSpPr/>
          <p:nvPr/>
        </p:nvSpPr>
        <p:spPr>
          <a:xfrm>
            <a:off x="0" y="3517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E7D49D-9EC9-727E-712B-B66918D4CBBD}"/>
              </a:ext>
            </a:extLst>
          </p:cNvPr>
          <p:cNvSpPr txBox="1"/>
          <p:nvPr/>
        </p:nvSpPr>
        <p:spPr>
          <a:xfrm>
            <a:off x="0" y="286357"/>
            <a:ext cx="4691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IN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76C1A-D7A4-4F43-02A2-E1F1BBC7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6D751D6-86FE-8F6C-5987-B1FD60D6CFD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545AE6F-EC18-6E0C-FF52-AE3E24CE43B7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301DBE9-16AD-A31E-A1ED-A94B65CAA81B}"/>
              </a:ext>
            </a:extLst>
          </p:cNvPr>
          <p:cNvSpPr/>
          <p:nvPr/>
        </p:nvSpPr>
        <p:spPr>
          <a:xfrm>
            <a:off x="0" y="440787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EB34AC4-57D3-1562-06D7-75BD87C3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77363"/>
            <a:ext cx="4334418" cy="236993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7BE8B83-A1AC-0073-DF43-E07311907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10" y="2154336"/>
            <a:ext cx="4571999" cy="25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74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Text 5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📊 Dashboard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9" name="Shape 7"/>
          <p:cNvSpPr/>
          <p:nvPr/>
        </p:nvSpPr>
        <p:spPr>
          <a:xfrm>
            <a:off x="384048" y="1225296"/>
            <a:ext cx="502920" cy="502920"/>
          </a:xfrm>
          <a:prstGeom prst="ellipse">
            <a:avLst/>
          </a:prstGeom>
          <a:solidFill>
            <a:srgbClr val="48CAE4">
              <a:alpha val="65000"/>
            </a:srgbClr>
          </a:solidFill>
          <a:ln w="12700">
            <a:noFill/>
          </a:ln>
        </p:spPr>
      </p:sp>
      <p:sp>
        <p:nvSpPr>
          <p:cNvPr id="10" name="Text 8"/>
          <p:cNvSpPr/>
          <p:nvPr/>
        </p:nvSpPr>
        <p:spPr>
          <a:xfrm>
            <a:off x="384048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12344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Coverage Bar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7647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Functions vs Classes vs Overall coverage rendered as a colour-coded bar chart. Labels show exact % values above each bar.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4" name="Shape 12"/>
          <p:cNvSpPr/>
          <p:nvPr/>
        </p:nvSpPr>
        <p:spPr>
          <a:xfrm>
            <a:off x="3355848" y="1225296"/>
            <a:ext cx="502920" cy="502920"/>
          </a:xfrm>
          <a:prstGeom prst="ellipse">
            <a:avLst/>
          </a:prstGeom>
          <a:solidFill>
            <a:srgbClr val="51E5A0">
              <a:alpha val="65000"/>
            </a:srgbClr>
          </a:solidFill>
          <a:ln w="12700">
            <a:noFill/>
          </a:ln>
        </p:spPr>
      </p:sp>
      <p:sp>
        <p:nvSpPr>
          <p:cNvPr id="15" name="Text 13"/>
          <p:cNvSpPr/>
          <p:nvPr/>
        </p:nvSpPr>
        <p:spPr>
          <a:xfrm>
            <a:off x="3355848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9352" y="12344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E5A0"/>
                </a:solidFill>
              </a:rPr>
              <a:t>Test Suite Simulation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7647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Groups functions by file into named test suites. Shows passed/total as green ✅ or red ❌ rows. Mirrors CI pipeline output.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19" name="Shape 17"/>
          <p:cNvSpPr/>
          <p:nvPr/>
        </p:nvSpPr>
        <p:spPr>
          <a:xfrm>
            <a:off x="6327648" y="1225296"/>
            <a:ext cx="502920" cy="502920"/>
          </a:xfrm>
          <a:prstGeom prst="ellipse">
            <a:avLst/>
          </a:prstGeom>
          <a:solidFill>
            <a:srgbClr val="7C83FD">
              <a:alpha val="65000"/>
            </a:srgbClr>
          </a:solidFill>
          <a:ln w="12700">
            <a:noFill/>
          </a:ln>
        </p:spPr>
      </p:sp>
      <p:sp>
        <p:nvSpPr>
          <p:cNvPr id="20" name="Text 18"/>
          <p:cNvSpPr/>
          <p:nvPr/>
        </p:nvSpPr>
        <p:spPr>
          <a:xfrm>
            <a:off x="6327648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1152" y="12344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3FD"/>
                </a:solidFill>
              </a:rPr>
              <a:t>Plotly Interactive Bar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17647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Optional Plotly bar chart of functions per file with hover tooltips. Falls back to Matplotlib when Plotly is not installed.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4" name="Shape 22"/>
          <p:cNvSpPr/>
          <p:nvPr/>
        </p:nvSpPr>
        <p:spPr>
          <a:xfrm>
            <a:off x="384048" y="3054096"/>
            <a:ext cx="502920" cy="502920"/>
          </a:xfrm>
          <a:prstGeom prst="ellipse">
            <a:avLst/>
          </a:prstGeom>
          <a:solidFill>
            <a:srgbClr val="FFD166">
              <a:alpha val="65000"/>
            </a:srgbClr>
          </a:solidFill>
          <a:ln w="12700">
            <a:noFill/>
          </a:ln>
        </p:spPr>
      </p:sp>
      <p:sp>
        <p:nvSpPr>
          <p:cNvPr id="25" name="Text 23"/>
          <p:cNvSpPr/>
          <p:nvPr/>
        </p:nvSpPr>
        <p:spPr>
          <a:xfrm>
            <a:off x="384048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" y="30632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Advanced Filters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5935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Filter all scan results by documentation status (All / OK / Fix) and by individual file. Updates a live count and HTML table.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29" name="Shape 27"/>
          <p:cNvSpPr/>
          <p:nvPr/>
        </p:nvSpPr>
        <p:spPr>
          <a:xfrm>
            <a:off x="3355848" y="3054096"/>
            <a:ext cx="502920" cy="502920"/>
          </a:xfrm>
          <a:prstGeom prst="ellipse">
            <a:avLst/>
          </a:prstGeom>
          <a:solidFill>
            <a:srgbClr val="FF6B6B">
              <a:alpha val="65000"/>
            </a:srgbClr>
          </a:solidFill>
          <a:ln w="12700">
            <a:noFill/>
          </a:ln>
        </p:spPr>
      </p:sp>
      <p:sp>
        <p:nvSpPr>
          <p:cNvPr id="30" name="Text 28"/>
          <p:cNvSpPr/>
          <p:nvPr/>
        </p:nvSpPr>
        <p:spPr>
          <a:xfrm>
            <a:off x="3355848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59352" y="30632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Function Search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5935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Instant full-text search across function names and file names. Returns results with file, line number, arg count, and docstring badge.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2926080"/>
            <a:ext cx="2788920" cy="1627632"/>
          </a:xfrm>
          <a:prstGeom prst="rect">
            <a:avLst/>
          </a:prstGeom>
          <a:noFill/>
          <a:ln w="12700">
            <a:noFill/>
          </a:ln>
          <a:effectLst/>
        </p:spPr>
      </p:sp>
      <p:sp>
        <p:nvSpPr>
          <p:cNvPr id="34" name="Shape 32"/>
          <p:cNvSpPr/>
          <p:nvPr/>
        </p:nvSpPr>
        <p:spPr>
          <a:xfrm>
            <a:off x="6327648" y="3054096"/>
            <a:ext cx="502920" cy="502920"/>
          </a:xfrm>
          <a:prstGeom prst="ellipse">
            <a:avLst/>
          </a:prstGeom>
          <a:solidFill>
            <a:srgbClr val="B8BDE8">
              <a:alpha val="65000"/>
            </a:srgbClr>
          </a:solidFill>
          <a:ln w="12700">
            <a:noFill/>
          </a:ln>
        </p:spPr>
      </p:sp>
      <p:sp>
        <p:nvSpPr>
          <p:cNvPr id="35" name="Text 33"/>
          <p:cNvSpPr/>
          <p:nvPr/>
        </p:nvSpPr>
        <p:spPr>
          <a:xfrm>
            <a:off x="6327648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1152" y="306324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BDE8"/>
                </a:solidFill>
              </a:rPr>
              <a:t>Export JSON / CSV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3593592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BDE8"/>
                </a:solidFill>
              </a:rPr>
              <a:t>Download full scan results as JSON (with metadata) or CSV (spreadsheet-ready) from the Dashboard or Export page.</a:t>
            </a:r>
            <a:endParaRPr lang="en-US" sz="85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F9E08AAF-BB79-3294-6701-E34D78E7B19D}"/>
              </a:ext>
            </a:extLst>
          </p:cNvPr>
          <p:cNvSpPr/>
          <p:nvPr/>
        </p:nvSpPr>
        <p:spPr>
          <a:xfrm>
            <a:off x="0" y="4572"/>
            <a:ext cx="9144000" cy="1005840"/>
          </a:xfrm>
          <a:custGeom>
            <a:avLst/>
            <a:gdLst>
              <a:gd name="csX0" fmla="*/ 0 w 9144000"/>
              <a:gd name="csY0" fmla="*/ 0 h 1005840"/>
              <a:gd name="csX1" fmla="*/ 297180 w 9144000"/>
              <a:gd name="csY1" fmla="*/ 0 h 1005840"/>
              <a:gd name="csX2" fmla="*/ 685800 w 9144000"/>
              <a:gd name="csY2" fmla="*/ 0 h 1005840"/>
              <a:gd name="csX3" fmla="*/ 1348740 w 9144000"/>
              <a:gd name="csY3" fmla="*/ 0 h 1005840"/>
              <a:gd name="csX4" fmla="*/ 1920240 w 9144000"/>
              <a:gd name="csY4" fmla="*/ 0 h 1005840"/>
              <a:gd name="csX5" fmla="*/ 2491740 w 9144000"/>
              <a:gd name="csY5" fmla="*/ 0 h 1005840"/>
              <a:gd name="csX6" fmla="*/ 2788920 w 9144000"/>
              <a:gd name="csY6" fmla="*/ 0 h 1005840"/>
              <a:gd name="csX7" fmla="*/ 3086100 w 9144000"/>
              <a:gd name="csY7" fmla="*/ 0 h 1005840"/>
              <a:gd name="csX8" fmla="*/ 3474720 w 9144000"/>
              <a:gd name="csY8" fmla="*/ 0 h 1005840"/>
              <a:gd name="csX9" fmla="*/ 4137660 w 9144000"/>
              <a:gd name="csY9" fmla="*/ 0 h 1005840"/>
              <a:gd name="csX10" fmla="*/ 4709160 w 9144000"/>
              <a:gd name="csY10" fmla="*/ 0 h 1005840"/>
              <a:gd name="csX11" fmla="*/ 5006340 w 9144000"/>
              <a:gd name="csY11" fmla="*/ 0 h 1005840"/>
              <a:gd name="csX12" fmla="*/ 5760720 w 9144000"/>
              <a:gd name="csY12" fmla="*/ 0 h 1005840"/>
              <a:gd name="csX13" fmla="*/ 6515100 w 9144000"/>
              <a:gd name="csY13" fmla="*/ 0 h 1005840"/>
              <a:gd name="csX14" fmla="*/ 7178040 w 9144000"/>
              <a:gd name="csY14" fmla="*/ 0 h 1005840"/>
              <a:gd name="csX15" fmla="*/ 7475220 w 9144000"/>
              <a:gd name="csY15" fmla="*/ 0 h 1005840"/>
              <a:gd name="csX16" fmla="*/ 7863840 w 9144000"/>
              <a:gd name="csY16" fmla="*/ 0 h 1005840"/>
              <a:gd name="csX17" fmla="*/ 8252460 w 9144000"/>
              <a:gd name="csY17" fmla="*/ 0 h 1005840"/>
              <a:gd name="csX18" fmla="*/ 8549640 w 9144000"/>
              <a:gd name="csY18" fmla="*/ 0 h 1005840"/>
              <a:gd name="csX19" fmla="*/ 9144000 w 9144000"/>
              <a:gd name="csY19" fmla="*/ 0 h 1005840"/>
              <a:gd name="csX20" fmla="*/ 9144000 w 9144000"/>
              <a:gd name="csY20" fmla="*/ 482803 h 1005840"/>
              <a:gd name="csX21" fmla="*/ 9144000 w 9144000"/>
              <a:gd name="csY21" fmla="*/ 1005840 h 1005840"/>
              <a:gd name="csX22" fmla="*/ 8755380 w 9144000"/>
              <a:gd name="csY22" fmla="*/ 1005840 h 1005840"/>
              <a:gd name="csX23" fmla="*/ 8458200 w 9144000"/>
              <a:gd name="csY23" fmla="*/ 1005840 h 1005840"/>
              <a:gd name="csX24" fmla="*/ 7978140 w 9144000"/>
              <a:gd name="csY24" fmla="*/ 1005840 h 1005840"/>
              <a:gd name="csX25" fmla="*/ 7498080 w 9144000"/>
              <a:gd name="csY25" fmla="*/ 1005840 h 1005840"/>
              <a:gd name="csX26" fmla="*/ 7200900 w 9144000"/>
              <a:gd name="csY26" fmla="*/ 1005840 h 1005840"/>
              <a:gd name="csX27" fmla="*/ 6446520 w 9144000"/>
              <a:gd name="csY27" fmla="*/ 1005840 h 1005840"/>
              <a:gd name="csX28" fmla="*/ 6057900 w 9144000"/>
              <a:gd name="csY28" fmla="*/ 1005840 h 1005840"/>
              <a:gd name="csX29" fmla="*/ 5669280 w 9144000"/>
              <a:gd name="csY29" fmla="*/ 1005840 h 1005840"/>
              <a:gd name="csX30" fmla="*/ 5097780 w 9144000"/>
              <a:gd name="csY30" fmla="*/ 1005840 h 1005840"/>
              <a:gd name="csX31" fmla="*/ 4800600 w 9144000"/>
              <a:gd name="csY31" fmla="*/ 1005840 h 1005840"/>
              <a:gd name="csX32" fmla="*/ 4229100 w 9144000"/>
              <a:gd name="csY32" fmla="*/ 1005840 h 1005840"/>
              <a:gd name="csX33" fmla="*/ 3566160 w 9144000"/>
              <a:gd name="csY33" fmla="*/ 1005840 h 1005840"/>
              <a:gd name="csX34" fmla="*/ 2903220 w 9144000"/>
              <a:gd name="csY34" fmla="*/ 1005840 h 1005840"/>
              <a:gd name="csX35" fmla="*/ 2331720 w 9144000"/>
              <a:gd name="csY35" fmla="*/ 1005840 h 1005840"/>
              <a:gd name="csX36" fmla="*/ 2034540 w 9144000"/>
              <a:gd name="csY36" fmla="*/ 1005840 h 1005840"/>
              <a:gd name="csX37" fmla="*/ 1737360 w 9144000"/>
              <a:gd name="csY37" fmla="*/ 1005840 h 1005840"/>
              <a:gd name="csX38" fmla="*/ 1074420 w 9144000"/>
              <a:gd name="csY38" fmla="*/ 1005840 h 1005840"/>
              <a:gd name="csX39" fmla="*/ 685800 w 9144000"/>
              <a:gd name="csY39" fmla="*/ 1005840 h 1005840"/>
              <a:gd name="csX40" fmla="*/ 0 w 9144000"/>
              <a:gd name="csY40" fmla="*/ 1005840 h 1005840"/>
              <a:gd name="csX41" fmla="*/ 0 w 9144000"/>
              <a:gd name="csY41" fmla="*/ 502920 h 1005840"/>
              <a:gd name="csX42" fmla="*/ 0 w 9144000"/>
              <a:gd name="csY42" fmla="*/ 0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4000" h="1005840" fill="none" extrusionOk="0">
                <a:moveTo>
                  <a:pt x="0" y="0"/>
                </a:moveTo>
                <a:cubicBezTo>
                  <a:pt x="111793" y="-2011"/>
                  <a:pt x="224355" y="17186"/>
                  <a:pt x="297180" y="0"/>
                </a:cubicBezTo>
                <a:cubicBezTo>
                  <a:pt x="370005" y="-17186"/>
                  <a:pt x="595185" y="23580"/>
                  <a:pt x="685800" y="0"/>
                </a:cubicBezTo>
                <a:cubicBezTo>
                  <a:pt x="776415" y="-23580"/>
                  <a:pt x="1136914" y="16759"/>
                  <a:pt x="1348740" y="0"/>
                </a:cubicBezTo>
                <a:cubicBezTo>
                  <a:pt x="1560566" y="-16759"/>
                  <a:pt x="1801360" y="57964"/>
                  <a:pt x="1920240" y="0"/>
                </a:cubicBezTo>
                <a:cubicBezTo>
                  <a:pt x="2039120" y="-57964"/>
                  <a:pt x="2278549" y="47895"/>
                  <a:pt x="2491740" y="0"/>
                </a:cubicBezTo>
                <a:cubicBezTo>
                  <a:pt x="2704931" y="-47895"/>
                  <a:pt x="2698051" y="6024"/>
                  <a:pt x="2788920" y="0"/>
                </a:cubicBezTo>
                <a:cubicBezTo>
                  <a:pt x="2879789" y="-6024"/>
                  <a:pt x="3025065" y="20420"/>
                  <a:pt x="3086100" y="0"/>
                </a:cubicBezTo>
                <a:cubicBezTo>
                  <a:pt x="3147135" y="-20420"/>
                  <a:pt x="3345997" y="41103"/>
                  <a:pt x="3474720" y="0"/>
                </a:cubicBezTo>
                <a:cubicBezTo>
                  <a:pt x="3603443" y="-41103"/>
                  <a:pt x="3881719" y="69044"/>
                  <a:pt x="4137660" y="0"/>
                </a:cubicBezTo>
                <a:cubicBezTo>
                  <a:pt x="4393601" y="-69044"/>
                  <a:pt x="4585462" y="5843"/>
                  <a:pt x="4709160" y="0"/>
                </a:cubicBezTo>
                <a:cubicBezTo>
                  <a:pt x="4832858" y="-5843"/>
                  <a:pt x="4883407" y="18488"/>
                  <a:pt x="5006340" y="0"/>
                </a:cubicBezTo>
                <a:cubicBezTo>
                  <a:pt x="5129273" y="-18488"/>
                  <a:pt x="5606017" y="77969"/>
                  <a:pt x="5760720" y="0"/>
                </a:cubicBezTo>
                <a:cubicBezTo>
                  <a:pt x="5915423" y="-77969"/>
                  <a:pt x="6340478" y="6394"/>
                  <a:pt x="6515100" y="0"/>
                </a:cubicBezTo>
                <a:cubicBezTo>
                  <a:pt x="6689722" y="-6394"/>
                  <a:pt x="6904424" y="51512"/>
                  <a:pt x="7178040" y="0"/>
                </a:cubicBezTo>
                <a:cubicBezTo>
                  <a:pt x="7451656" y="-51512"/>
                  <a:pt x="7401406" y="24753"/>
                  <a:pt x="7475220" y="0"/>
                </a:cubicBezTo>
                <a:cubicBezTo>
                  <a:pt x="7549034" y="-24753"/>
                  <a:pt x="7729153" y="25668"/>
                  <a:pt x="7863840" y="0"/>
                </a:cubicBezTo>
                <a:cubicBezTo>
                  <a:pt x="7998527" y="-25668"/>
                  <a:pt x="8096677" y="40777"/>
                  <a:pt x="8252460" y="0"/>
                </a:cubicBezTo>
                <a:cubicBezTo>
                  <a:pt x="8408243" y="-40777"/>
                  <a:pt x="8483666" y="14716"/>
                  <a:pt x="8549640" y="0"/>
                </a:cubicBezTo>
                <a:cubicBezTo>
                  <a:pt x="8615614" y="-14716"/>
                  <a:pt x="8851586" y="18005"/>
                  <a:pt x="9144000" y="0"/>
                </a:cubicBezTo>
                <a:cubicBezTo>
                  <a:pt x="9183876" y="239834"/>
                  <a:pt x="9121112" y="267289"/>
                  <a:pt x="9144000" y="482803"/>
                </a:cubicBezTo>
                <a:cubicBezTo>
                  <a:pt x="9166888" y="698317"/>
                  <a:pt x="9087262" y="792537"/>
                  <a:pt x="9144000" y="1005840"/>
                </a:cubicBezTo>
                <a:cubicBezTo>
                  <a:pt x="9050160" y="1045029"/>
                  <a:pt x="8873769" y="982829"/>
                  <a:pt x="8755380" y="1005840"/>
                </a:cubicBezTo>
                <a:cubicBezTo>
                  <a:pt x="8636991" y="1028851"/>
                  <a:pt x="8558512" y="981747"/>
                  <a:pt x="8458200" y="1005840"/>
                </a:cubicBezTo>
                <a:cubicBezTo>
                  <a:pt x="8357888" y="1029933"/>
                  <a:pt x="8179174" y="1004129"/>
                  <a:pt x="7978140" y="1005840"/>
                </a:cubicBezTo>
                <a:cubicBezTo>
                  <a:pt x="7777106" y="1007551"/>
                  <a:pt x="7711100" y="971808"/>
                  <a:pt x="7498080" y="1005840"/>
                </a:cubicBezTo>
                <a:cubicBezTo>
                  <a:pt x="7285060" y="1039872"/>
                  <a:pt x="7266570" y="978564"/>
                  <a:pt x="7200900" y="1005840"/>
                </a:cubicBezTo>
                <a:cubicBezTo>
                  <a:pt x="7135230" y="1033116"/>
                  <a:pt x="6680894" y="960512"/>
                  <a:pt x="6446520" y="1005840"/>
                </a:cubicBezTo>
                <a:cubicBezTo>
                  <a:pt x="6212146" y="1051168"/>
                  <a:pt x="6220175" y="990899"/>
                  <a:pt x="6057900" y="1005840"/>
                </a:cubicBezTo>
                <a:cubicBezTo>
                  <a:pt x="5895625" y="1020781"/>
                  <a:pt x="5807392" y="981248"/>
                  <a:pt x="5669280" y="1005840"/>
                </a:cubicBezTo>
                <a:cubicBezTo>
                  <a:pt x="5531168" y="1030432"/>
                  <a:pt x="5297484" y="985413"/>
                  <a:pt x="5097780" y="1005840"/>
                </a:cubicBezTo>
                <a:cubicBezTo>
                  <a:pt x="4898076" y="1026267"/>
                  <a:pt x="4875126" y="973811"/>
                  <a:pt x="4800600" y="1005840"/>
                </a:cubicBezTo>
                <a:cubicBezTo>
                  <a:pt x="4726074" y="1037869"/>
                  <a:pt x="4479053" y="977930"/>
                  <a:pt x="4229100" y="1005840"/>
                </a:cubicBezTo>
                <a:cubicBezTo>
                  <a:pt x="3979147" y="1033750"/>
                  <a:pt x="3771776" y="952319"/>
                  <a:pt x="3566160" y="1005840"/>
                </a:cubicBezTo>
                <a:cubicBezTo>
                  <a:pt x="3360544" y="1059361"/>
                  <a:pt x="3105292" y="1001052"/>
                  <a:pt x="2903220" y="1005840"/>
                </a:cubicBezTo>
                <a:cubicBezTo>
                  <a:pt x="2701148" y="1010628"/>
                  <a:pt x="2573265" y="989985"/>
                  <a:pt x="2331720" y="1005840"/>
                </a:cubicBezTo>
                <a:cubicBezTo>
                  <a:pt x="2090175" y="1021695"/>
                  <a:pt x="2146361" y="994603"/>
                  <a:pt x="2034540" y="1005840"/>
                </a:cubicBezTo>
                <a:cubicBezTo>
                  <a:pt x="1922719" y="1017077"/>
                  <a:pt x="1830893" y="983712"/>
                  <a:pt x="1737360" y="1005840"/>
                </a:cubicBezTo>
                <a:cubicBezTo>
                  <a:pt x="1643827" y="1027968"/>
                  <a:pt x="1387528" y="927719"/>
                  <a:pt x="1074420" y="1005840"/>
                </a:cubicBezTo>
                <a:cubicBezTo>
                  <a:pt x="761312" y="1083961"/>
                  <a:pt x="864243" y="968072"/>
                  <a:pt x="685800" y="1005840"/>
                </a:cubicBezTo>
                <a:cubicBezTo>
                  <a:pt x="507357" y="1043608"/>
                  <a:pt x="264370" y="998372"/>
                  <a:pt x="0" y="1005840"/>
                </a:cubicBezTo>
                <a:cubicBezTo>
                  <a:pt x="-57256" y="799134"/>
                  <a:pt x="2136" y="722568"/>
                  <a:pt x="0" y="502920"/>
                </a:cubicBezTo>
                <a:cubicBezTo>
                  <a:pt x="-2136" y="283272"/>
                  <a:pt x="2952" y="166435"/>
                  <a:pt x="0" y="0"/>
                </a:cubicBezTo>
                <a:close/>
              </a:path>
              <a:path w="9144000" h="1005840" stroke="0" extrusionOk="0">
                <a:moveTo>
                  <a:pt x="0" y="0"/>
                </a:moveTo>
                <a:cubicBezTo>
                  <a:pt x="214954" y="-5593"/>
                  <a:pt x="496364" y="24229"/>
                  <a:pt x="662940" y="0"/>
                </a:cubicBezTo>
                <a:cubicBezTo>
                  <a:pt x="829516" y="-24229"/>
                  <a:pt x="1012968" y="18625"/>
                  <a:pt x="1234440" y="0"/>
                </a:cubicBezTo>
                <a:cubicBezTo>
                  <a:pt x="1455912" y="-18625"/>
                  <a:pt x="1726999" y="50702"/>
                  <a:pt x="1988820" y="0"/>
                </a:cubicBezTo>
                <a:cubicBezTo>
                  <a:pt x="2250641" y="-50702"/>
                  <a:pt x="2221105" y="2558"/>
                  <a:pt x="2377440" y="0"/>
                </a:cubicBezTo>
                <a:cubicBezTo>
                  <a:pt x="2533775" y="-2558"/>
                  <a:pt x="2861281" y="46165"/>
                  <a:pt x="3040380" y="0"/>
                </a:cubicBezTo>
                <a:cubicBezTo>
                  <a:pt x="3219479" y="-46165"/>
                  <a:pt x="3241531" y="14678"/>
                  <a:pt x="3429000" y="0"/>
                </a:cubicBezTo>
                <a:cubicBezTo>
                  <a:pt x="3616469" y="-14678"/>
                  <a:pt x="3739839" y="33931"/>
                  <a:pt x="3909060" y="0"/>
                </a:cubicBezTo>
                <a:cubicBezTo>
                  <a:pt x="4078281" y="-33931"/>
                  <a:pt x="4220584" y="43872"/>
                  <a:pt x="4389120" y="0"/>
                </a:cubicBezTo>
                <a:cubicBezTo>
                  <a:pt x="4557656" y="-43872"/>
                  <a:pt x="4730033" y="36555"/>
                  <a:pt x="5052060" y="0"/>
                </a:cubicBezTo>
                <a:cubicBezTo>
                  <a:pt x="5374087" y="-36555"/>
                  <a:pt x="5427920" y="24620"/>
                  <a:pt x="5532120" y="0"/>
                </a:cubicBezTo>
                <a:cubicBezTo>
                  <a:pt x="5636320" y="-24620"/>
                  <a:pt x="5783518" y="6072"/>
                  <a:pt x="5920740" y="0"/>
                </a:cubicBezTo>
                <a:cubicBezTo>
                  <a:pt x="6057962" y="-6072"/>
                  <a:pt x="6136464" y="22159"/>
                  <a:pt x="6217920" y="0"/>
                </a:cubicBezTo>
                <a:cubicBezTo>
                  <a:pt x="6299376" y="-22159"/>
                  <a:pt x="6618214" y="37712"/>
                  <a:pt x="6880860" y="0"/>
                </a:cubicBezTo>
                <a:cubicBezTo>
                  <a:pt x="7143506" y="-37712"/>
                  <a:pt x="7083739" y="31887"/>
                  <a:pt x="7178040" y="0"/>
                </a:cubicBezTo>
                <a:cubicBezTo>
                  <a:pt x="7272341" y="-31887"/>
                  <a:pt x="7527578" y="68680"/>
                  <a:pt x="7840980" y="0"/>
                </a:cubicBezTo>
                <a:cubicBezTo>
                  <a:pt x="8154382" y="-68680"/>
                  <a:pt x="8028567" y="17472"/>
                  <a:pt x="8138160" y="0"/>
                </a:cubicBezTo>
                <a:cubicBezTo>
                  <a:pt x="8247753" y="-17472"/>
                  <a:pt x="8753132" y="81275"/>
                  <a:pt x="9144000" y="0"/>
                </a:cubicBezTo>
                <a:cubicBezTo>
                  <a:pt x="9186655" y="165385"/>
                  <a:pt x="9123168" y="249633"/>
                  <a:pt x="9144000" y="472745"/>
                </a:cubicBezTo>
                <a:cubicBezTo>
                  <a:pt x="9164832" y="695858"/>
                  <a:pt x="9097912" y="842354"/>
                  <a:pt x="9144000" y="1005840"/>
                </a:cubicBezTo>
                <a:cubicBezTo>
                  <a:pt x="9023088" y="1015209"/>
                  <a:pt x="8816960" y="954236"/>
                  <a:pt x="8663940" y="1005840"/>
                </a:cubicBezTo>
                <a:cubicBezTo>
                  <a:pt x="8510920" y="1057444"/>
                  <a:pt x="8431341" y="995735"/>
                  <a:pt x="8275320" y="1005840"/>
                </a:cubicBezTo>
                <a:cubicBezTo>
                  <a:pt x="8119299" y="1015945"/>
                  <a:pt x="7778130" y="974343"/>
                  <a:pt x="7612380" y="1005840"/>
                </a:cubicBezTo>
                <a:cubicBezTo>
                  <a:pt x="7446630" y="1037337"/>
                  <a:pt x="7400218" y="971632"/>
                  <a:pt x="7315200" y="1005840"/>
                </a:cubicBezTo>
                <a:cubicBezTo>
                  <a:pt x="7230182" y="1040048"/>
                  <a:pt x="7131629" y="991331"/>
                  <a:pt x="7018020" y="1005840"/>
                </a:cubicBezTo>
                <a:cubicBezTo>
                  <a:pt x="6904411" y="1020349"/>
                  <a:pt x="6726911" y="941765"/>
                  <a:pt x="6446520" y="1005840"/>
                </a:cubicBezTo>
                <a:cubicBezTo>
                  <a:pt x="6166129" y="1069915"/>
                  <a:pt x="6009779" y="987756"/>
                  <a:pt x="5875020" y="1005840"/>
                </a:cubicBezTo>
                <a:cubicBezTo>
                  <a:pt x="5740261" y="1023924"/>
                  <a:pt x="5404685" y="1001474"/>
                  <a:pt x="5120640" y="1005840"/>
                </a:cubicBezTo>
                <a:cubicBezTo>
                  <a:pt x="4836595" y="1010206"/>
                  <a:pt x="4876639" y="962005"/>
                  <a:pt x="4640580" y="1005840"/>
                </a:cubicBezTo>
                <a:cubicBezTo>
                  <a:pt x="4404521" y="1049675"/>
                  <a:pt x="4408249" y="999055"/>
                  <a:pt x="4251960" y="1005840"/>
                </a:cubicBezTo>
                <a:cubicBezTo>
                  <a:pt x="4095671" y="1012625"/>
                  <a:pt x="4080888" y="976999"/>
                  <a:pt x="3954780" y="1005840"/>
                </a:cubicBezTo>
                <a:cubicBezTo>
                  <a:pt x="3828672" y="1034681"/>
                  <a:pt x="3432557" y="980301"/>
                  <a:pt x="3291840" y="1005840"/>
                </a:cubicBezTo>
                <a:cubicBezTo>
                  <a:pt x="3151123" y="1031379"/>
                  <a:pt x="2727246" y="973894"/>
                  <a:pt x="2537460" y="1005840"/>
                </a:cubicBezTo>
                <a:cubicBezTo>
                  <a:pt x="2347674" y="1037786"/>
                  <a:pt x="2246096" y="987839"/>
                  <a:pt x="2057400" y="1005840"/>
                </a:cubicBezTo>
                <a:cubicBezTo>
                  <a:pt x="1868704" y="1023841"/>
                  <a:pt x="1475817" y="992655"/>
                  <a:pt x="1303020" y="1005840"/>
                </a:cubicBezTo>
                <a:cubicBezTo>
                  <a:pt x="1130223" y="1019025"/>
                  <a:pt x="913125" y="948009"/>
                  <a:pt x="640080" y="1005840"/>
                </a:cubicBezTo>
                <a:cubicBezTo>
                  <a:pt x="367035" y="1063671"/>
                  <a:pt x="300435" y="939227"/>
                  <a:pt x="0" y="1005840"/>
                </a:cubicBezTo>
                <a:cubicBezTo>
                  <a:pt x="-18413" y="818211"/>
                  <a:pt x="39072" y="624241"/>
                  <a:pt x="0" y="512978"/>
                </a:cubicBezTo>
                <a:cubicBezTo>
                  <a:pt x="-39072" y="401715"/>
                  <a:pt x="28254" y="229380"/>
                  <a:pt x="0" y="0"/>
                </a:cubicBezTo>
                <a:close/>
              </a:path>
            </a:pathLst>
          </a:custGeom>
          <a:solidFill>
            <a:srgbClr val="141D3A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34532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5EB12B-28BE-E028-7EEC-10C37038B14E}"/>
              </a:ext>
            </a:extLst>
          </p:cNvPr>
          <p:cNvSpPr txBox="1"/>
          <p:nvPr/>
        </p:nvSpPr>
        <p:spPr>
          <a:xfrm>
            <a:off x="168812" y="330591"/>
            <a:ext cx="49518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IN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DB7CB1-7409-89A7-E3BF-FFE6218A4C2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8"/>
          </a:solidFill>
          <a:ln w="12700">
            <a:noFill/>
          </a:ln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187C6B0-07D0-081D-7EC9-2F1B182976ED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B493084-B305-A538-AE9D-EF214D1FDF32}"/>
              </a:ext>
            </a:extLst>
          </p:cNvPr>
          <p:cNvSpPr/>
          <p:nvPr/>
        </p:nvSpPr>
        <p:spPr>
          <a:xfrm>
            <a:off x="0" y="33528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C7201-6B94-BCC0-4BEE-B4C2EFB32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82" y="469360"/>
            <a:ext cx="4740810" cy="2609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240B6B-8C57-D2AD-1558-686AD5BF4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8495"/>
            <a:ext cx="4593101" cy="25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57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noFill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530">
              <a:alpha val="60000"/>
            </a:srgbClr>
          </a:solidFill>
          <a:ln w="12700">
            <a:noFill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1C2B5E">
              <a:alpha val="45000"/>
            </a:srgbClr>
          </a:solidFill>
          <a:ln w="12700">
            <a:noFill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D4A8A">
              <a:alpha val="30000"/>
            </a:srgbClr>
          </a:solidFill>
          <a:ln w="12700">
            <a:noFill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7C83FD">
              <a:alpha val="40000"/>
            </a:srgbClr>
          </a:solidFill>
          <a:ln w="12700">
            <a:noFill/>
          </a:ln>
        </p:spPr>
      </p:sp>
      <p:sp>
        <p:nvSpPr>
          <p:cNvPr id="7" name="Shape 5"/>
          <p:cNvSpPr/>
          <p:nvPr/>
        </p:nvSpPr>
        <p:spPr>
          <a:xfrm>
            <a:off x="-463320" y="1828800"/>
            <a:ext cx="4572000" cy="4572000"/>
          </a:xfrm>
          <a:prstGeom prst="ellipse">
            <a:avLst/>
          </a:prstGeom>
          <a:solidFill>
            <a:srgbClr val="7C83FD">
              <a:alpha val="10000"/>
            </a:srgbClr>
          </a:solidFill>
          <a:ln w="12700">
            <a:noFill/>
          </a:ln>
        </p:spPr>
      </p:sp>
      <p:sp>
        <p:nvSpPr>
          <p:cNvPr id="8" name="Shape 6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48CAE4">
              <a:alpha val="10000"/>
            </a:srgbClr>
          </a:solidFill>
          <a:ln w="12700">
            <a:noFill/>
          </a:ln>
        </p:spPr>
      </p:sp>
      <p:sp>
        <p:nvSpPr>
          <p:cNvPr id="9" name="Text 7"/>
          <p:cNvSpPr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7C83FD"/>
          </a:solidFill>
          <a:ln w="12700">
            <a:noFill/>
          </a:ln>
        </p:spPr>
      </p:sp>
      <p:sp>
        <p:nvSpPr>
          <p:cNvPr id="11" name="Text 9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8892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2084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1120</Words>
  <Application>Microsoft Office PowerPoint</Application>
  <PresentationFormat>On-screen Show (16:9)</PresentationFormat>
  <Paragraphs>165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 Reviewer Pro</dc:title>
  <dc:subject>PptxGenJS Presentation</dc:subject>
  <dc:creator>PptxGenJS</dc:creator>
  <cp:lastModifiedBy>Alen V A</cp:lastModifiedBy>
  <cp:revision>3</cp:revision>
  <dcterms:created xsi:type="dcterms:W3CDTF">2026-03-27T16:37:23Z</dcterms:created>
  <dcterms:modified xsi:type="dcterms:W3CDTF">2026-03-30T14:08:53Z</dcterms:modified>
</cp:coreProperties>
</file>